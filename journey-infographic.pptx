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22860000"/>
  <p:notesSz cx="22860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212144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3" name="Text 1"/>
          <p:cNvSpPr/>
          <p:nvPr/>
        </p:nvSpPr>
        <p:spPr>
          <a:xfrm>
            <a:off x="8632651" y="381000"/>
            <a:ext cx="4254774" cy="499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0" i="1" dirty="0">
                <a:solidFill>
                  <a:srgbClr val="1E3A5A">
                    <a:alpha val="3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9000" dirty="0"/>
          </a:p>
        </p:txBody>
      </p:sp>
      <p:sp>
        <p:nvSpPr>
          <p:cNvPr id="4" name="Text 2"/>
          <p:cNvSpPr/>
          <p:nvPr/>
        </p:nvSpPr>
        <p:spPr>
          <a:xfrm>
            <a:off x="914301" y="914301"/>
            <a:ext cx="1279103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 IMPACT</a:t>
            </a:r>
            <a:endParaRPr lang="en-US" sz="825" dirty="0"/>
          </a:p>
        </p:txBody>
      </p:sp>
      <p:sp>
        <p:nvSpPr>
          <p:cNvPr id="5" name="Shape 3"/>
          <p:cNvSpPr/>
          <p:nvPr/>
        </p:nvSpPr>
        <p:spPr>
          <a:xfrm>
            <a:off x="2269505" y="977057"/>
            <a:ext cx="7910711" cy="9525"/>
          </a:xfrm>
          <a:prstGeom prst="rect">
            <a:avLst/>
          </a:prstGeom>
          <a:solidFill>
            <a:srgbClr val="3A6D9C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332517" y="914301"/>
            <a:ext cx="1021383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 — 2026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14301" y="1315889"/>
            <a:ext cx="10674300" cy="23593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247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journey </a:t>
            </a:r>
            <a:pPr algn="l" indent="0" marL="0">
              <a:lnSpc>
                <a:spcPct val="92000"/>
              </a:lnSpc>
              <a:buNone/>
            </a:pPr>
            <a:r>
              <a:rPr lang="en-US" sz="9900" i="1" spc="-247" kern="0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far.</a:t>
            </a:r>
            <a:endParaRPr lang="en-US" sz="9900" dirty="0"/>
          </a:p>
        </p:txBody>
      </p:sp>
      <p:sp>
        <p:nvSpPr>
          <p:cNvPr id="8" name="Text 6"/>
          <p:cNvSpPr/>
          <p:nvPr/>
        </p:nvSpPr>
        <p:spPr>
          <a:xfrm>
            <a:off x="914301" y="3979912"/>
            <a:ext cx="6082665" cy="5694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E8E0D0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engagements. Three cause areas. A discipline of finding cost-effective philanthropy where the evidence is thinnest and the leverage is highest.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133326" y="5349379"/>
            <a:ext cx="9525" cy="5615285"/>
          </a:xfrm>
          <a:prstGeom prst="rect">
            <a:avLst/>
          </a:prstGeom>
          <a:solidFill>
            <a:srgbClr val="3A6D9C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28526" y="5425529"/>
            <a:ext cx="228575" cy="228575"/>
          </a:xfrm>
          <a:prstGeom prst="ellipse">
            <a:avLst/>
          </a:prstGeom>
          <a:solidFill>
            <a:srgbClr val="0F2440"/>
          </a:solidFill>
          <a:ln w="7937">
            <a:solidFill>
              <a:srgbClr val="C09D4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04677" y="5501680"/>
            <a:ext cx="76150" cy="76150"/>
          </a:xfrm>
          <a:prstGeom prst="ellipse">
            <a:avLst/>
          </a:prstGeom>
          <a:solidFill>
            <a:srgbClr val="C09D4B"/>
          </a:solidFill>
          <a:ln/>
        </p:spPr>
      </p:sp>
      <p:sp>
        <p:nvSpPr>
          <p:cNvPr id="12" name="Text 10"/>
          <p:cNvSpPr/>
          <p:nvPr/>
        </p:nvSpPr>
        <p:spPr>
          <a:xfrm>
            <a:off x="1676301" y="5349379"/>
            <a:ext cx="373360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106786" y="5491386"/>
            <a:ext cx="1622772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BEGAN · ECCE PILOT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676301" y="5958954"/>
            <a:ext cx="4748633" cy="16703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richest state. The </a:t>
            </a:r>
            <a:pPr algn="l" indent="0" marL="0">
              <a:lnSpc>
                <a:spcPct val="102000"/>
              </a:lnSpc>
              <a:buNone/>
            </a:pPr>
            <a:r>
              <a:rPr lang="en-US" sz="4200" i="1" spc="-84" kern="0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thinnest </a:t>
            </a:r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evidence.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676301" y="7857877"/>
            <a:ext cx="4748633" cy="107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E8E0D0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pilot in Early Childhood Care &amp; Education exposed Maharashtra's paradox: India's wealthiest state, yet failing on key child-development indicators — and crowded out by a tiny philanthropic pool.</a:t>
            </a:r>
            <a:endParaRPr lang="en-US" sz="1275" dirty="0"/>
          </a:p>
        </p:txBody>
      </p:sp>
      <p:sp>
        <p:nvSpPr>
          <p:cNvPr id="16" name="Shape 14"/>
          <p:cNvSpPr/>
          <p:nvPr/>
        </p:nvSpPr>
        <p:spPr>
          <a:xfrm>
            <a:off x="1676301" y="9160867"/>
            <a:ext cx="4610323" cy="9525"/>
          </a:xfrm>
          <a:prstGeom prst="rect">
            <a:avLst/>
          </a:prstGeom>
          <a:solidFill>
            <a:srgbClr val="3A6D9C">
              <a:alpha val="2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863206" y="9378280"/>
            <a:ext cx="9525" cy="672083"/>
          </a:xfrm>
          <a:prstGeom prst="rect">
            <a:avLst/>
          </a:prstGeom>
          <a:solidFill>
            <a:srgbClr val="3A6D9C">
              <a:alpha val="2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676301" y="9378280"/>
            <a:ext cx="203453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$6.1M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76301" y="9770566"/>
            <a:ext cx="2034530" cy="3178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spc="95" kern="0" dirty="0">
                <a:solidFill>
                  <a:srgbClr val="E8E0D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ECCE PHILANTHROPY / YR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099719" y="9378280"/>
            <a:ext cx="203453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099719" y="9770566"/>
            <a:ext cx="2034530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spc="95" kern="0" dirty="0">
                <a:solidFill>
                  <a:srgbClr val="E8E0D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RICHEST STATE, INDIA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6896199" y="5349379"/>
            <a:ext cx="4381500" cy="3946922"/>
          </a:xfrm>
          <a:prstGeom prst="rect">
            <a:avLst/>
          </a:prstGeom>
          <a:solidFill>
            <a:srgbClr val="1E3A5A"/>
          </a:solidFill>
          <a:ln w="7937">
            <a:solidFill>
              <a:srgbClr val="3A6D9C">
                <a:alpha val="33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5136" y="5776392"/>
            <a:ext cx="67771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825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461" y="5776392"/>
            <a:ext cx="533301" cy="53330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285136" y="6538268"/>
            <a:ext cx="3711734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5000" spc="-600" kern="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18×</a:t>
            </a:r>
            <a:endParaRPr lang="en-US" sz="15000" dirty="0"/>
          </a:p>
        </p:txBody>
      </p:sp>
      <p:sp>
        <p:nvSpPr>
          <p:cNvPr id="26" name="Text 23"/>
          <p:cNvSpPr/>
          <p:nvPr/>
        </p:nvSpPr>
        <p:spPr>
          <a:xfrm>
            <a:off x="7285136" y="8233668"/>
            <a:ext cx="3711734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8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Cost-effectiveness gain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285136" y="8520906"/>
            <a:ext cx="3711734" cy="4245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E8E0D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extra part-time Anganwadi Worker focused on play-based early learning.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133326" y="10964664"/>
            <a:ext cx="9525" cy="5190381"/>
          </a:xfrm>
          <a:prstGeom prst="rect">
            <a:avLst/>
          </a:prstGeom>
          <a:solidFill>
            <a:srgbClr val="3A6D9C">
              <a:alpha val="4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1028526" y="11040814"/>
            <a:ext cx="228575" cy="228575"/>
          </a:xfrm>
          <a:prstGeom prst="ellipse">
            <a:avLst/>
          </a:prstGeom>
          <a:solidFill>
            <a:srgbClr val="0F2440"/>
          </a:solidFill>
          <a:ln w="7937">
            <a:solidFill>
              <a:srgbClr val="C09D4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104677" y="11116964"/>
            <a:ext cx="76150" cy="76150"/>
          </a:xfrm>
          <a:prstGeom prst="ellipse">
            <a:avLst/>
          </a:prstGeom>
          <a:solidFill>
            <a:srgbClr val="C09D4B"/>
          </a:solidFill>
          <a:ln/>
        </p:spPr>
      </p:sp>
      <p:sp>
        <p:nvSpPr>
          <p:cNvPr id="31" name="Text 28"/>
          <p:cNvSpPr/>
          <p:nvPr/>
        </p:nvSpPr>
        <p:spPr>
          <a:xfrm>
            <a:off x="1676301" y="10964664"/>
            <a:ext cx="433760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300" dirty="0"/>
          </a:p>
        </p:txBody>
      </p:sp>
      <p:sp>
        <p:nvSpPr>
          <p:cNvPr id="32" name="Text 29"/>
          <p:cNvSpPr/>
          <p:nvPr/>
        </p:nvSpPr>
        <p:spPr>
          <a:xfrm>
            <a:off x="2167185" y="11106671"/>
            <a:ext cx="2310110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 · FARMER LIVELIHOODS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1676301" y="11574239"/>
            <a:ext cx="4748633" cy="1126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stages. One </a:t>
            </a:r>
            <a:pPr algn="l" indent="0" marL="0">
              <a:lnSpc>
                <a:spcPct val="102000"/>
              </a:lnSpc>
              <a:buNone/>
            </a:pPr>
            <a:r>
              <a:rPr lang="en-US" sz="4200" i="1" spc="-84" kern="0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477× </a:t>
            </a:r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grantee.</a:t>
            </a:r>
            <a:endParaRPr lang="en-US" sz="4200" dirty="0"/>
          </a:p>
        </p:txBody>
      </p:sp>
      <p:sp>
        <p:nvSpPr>
          <p:cNvPr id="34" name="Text 31"/>
          <p:cNvSpPr/>
          <p:nvPr/>
        </p:nvSpPr>
        <p:spPr>
          <a:xfrm>
            <a:off x="1676301" y="12929071"/>
            <a:ext cx="4748633" cy="133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E8E0D0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engagement with an independent philanthropist (Aug 2025) to lift incomes of marginal and smallholder farmers — focused on horticulture, high-value crops and allied sectors. We designed a four-stage grant call to surface mid-sized NGOs in priority states.</a:t>
            </a:r>
            <a:endParaRPr lang="en-US" sz="1275" dirty="0"/>
          </a:p>
        </p:txBody>
      </p:sp>
      <p:sp>
        <p:nvSpPr>
          <p:cNvPr id="35" name="Shape 32"/>
          <p:cNvSpPr/>
          <p:nvPr/>
        </p:nvSpPr>
        <p:spPr>
          <a:xfrm>
            <a:off x="1676301" y="14491146"/>
            <a:ext cx="4610323" cy="9525"/>
          </a:xfrm>
          <a:prstGeom prst="rect">
            <a:avLst/>
          </a:prstGeom>
          <a:solidFill>
            <a:srgbClr val="3A6D9C">
              <a:alpha val="25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863206" y="14708559"/>
            <a:ext cx="9525" cy="532185"/>
          </a:xfrm>
          <a:prstGeom prst="rect">
            <a:avLst/>
          </a:prstGeom>
          <a:solidFill>
            <a:srgbClr val="3A6D9C">
              <a:alpha val="25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1676301" y="14708559"/>
            <a:ext cx="203453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38" name="Text 35"/>
          <p:cNvSpPr/>
          <p:nvPr/>
        </p:nvSpPr>
        <p:spPr>
          <a:xfrm>
            <a:off x="1676301" y="15100846"/>
            <a:ext cx="2034530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spc="95" kern="0" dirty="0">
                <a:solidFill>
                  <a:srgbClr val="E8E0D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GRANT CALL</a:t>
            </a:r>
            <a:endParaRPr lang="en-US" sz="788" dirty="0"/>
          </a:p>
        </p:txBody>
      </p:sp>
      <p:sp>
        <p:nvSpPr>
          <p:cNvPr id="39" name="Text 36"/>
          <p:cNvSpPr/>
          <p:nvPr/>
        </p:nvSpPr>
        <p:spPr>
          <a:xfrm>
            <a:off x="4099719" y="14708559"/>
            <a:ext cx="2034530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400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 '25</a:t>
            </a:r>
            <a:endParaRPr lang="en-US" sz="2400" dirty="0"/>
          </a:p>
        </p:txBody>
      </p:sp>
      <p:sp>
        <p:nvSpPr>
          <p:cNvPr id="40" name="Text 37"/>
          <p:cNvSpPr/>
          <p:nvPr/>
        </p:nvSpPr>
        <p:spPr>
          <a:xfrm>
            <a:off x="4099719" y="15100846"/>
            <a:ext cx="2034530" cy="177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88" spc="95" kern="0" dirty="0">
                <a:solidFill>
                  <a:srgbClr val="E8E0D0">
                    <a:alpha val="6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ENGAGEMENT START</a:t>
            </a:r>
            <a:endParaRPr lang="en-US" sz="788" dirty="0"/>
          </a:p>
        </p:txBody>
      </p:sp>
      <p:sp>
        <p:nvSpPr>
          <p:cNvPr id="41" name="Shape 38"/>
          <p:cNvSpPr/>
          <p:nvPr/>
        </p:nvSpPr>
        <p:spPr>
          <a:xfrm>
            <a:off x="6896199" y="10964664"/>
            <a:ext cx="4381500" cy="3753693"/>
          </a:xfrm>
          <a:prstGeom prst="rect">
            <a:avLst/>
          </a:prstGeom>
          <a:solidFill>
            <a:srgbClr val="1E3A5A"/>
          </a:solidFill>
          <a:ln w="7937">
            <a:solidFill>
              <a:srgbClr val="3A6D9C">
                <a:alpha val="33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285136" y="11391677"/>
            <a:ext cx="67771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825" dirty="0"/>
          </a:p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5461" y="11391677"/>
            <a:ext cx="533301" cy="533301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7285136" y="12153552"/>
            <a:ext cx="3711734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5000" spc="-600" kern="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477×</a:t>
            </a:r>
            <a:endParaRPr lang="en-US" sz="15000" dirty="0"/>
          </a:p>
        </p:txBody>
      </p:sp>
      <p:sp>
        <p:nvSpPr>
          <p:cNvPr id="45" name="Text 41"/>
          <p:cNvSpPr/>
          <p:nvPr/>
        </p:nvSpPr>
        <p:spPr>
          <a:xfrm>
            <a:off x="7285136" y="13848953"/>
            <a:ext cx="3711734" cy="268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8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Grantee cost-effectiveness</a:t>
            </a:r>
            <a:endParaRPr lang="en-US" sz="1500" dirty="0"/>
          </a:p>
        </p:txBody>
      </p:sp>
      <p:sp>
        <p:nvSpPr>
          <p:cNvPr id="46" name="Text 42"/>
          <p:cNvSpPr/>
          <p:nvPr/>
        </p:nvSpPr>
        <p:spPr>
          <a:xfrm>
            <a:off x="7285136" y="14136191"/>
            <a:ext cx="3711734" cy="231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E8E0D0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Mid-sized NGO surfaced through our four-stage diligence.</a:t>
            </a:r>
            <a:endParaRPr lang="en-US" sz="1050" dirty="0"/>
          </a:p>
        </p:txBody>
      </p:sp>
      <p:sp>
        <p:nvSpPr>
          <p:cNvPr id="47" name="Shape 43"/>
          <p:cNvSpPr/>
          <p:nvPr/>
        </p:nvSpPr>
        <p:spPr>
          <a:xfrm>
            <a:off x="1133326" y="16155044"/>
            <a:ext cx="9525" cy="3297907"/>
          </a:xfrm>
          <a:prstGeom prst="rect">
            <a:avLst/>
          </a:prstGeom>
          <a:solidFill>
            <a:srgbClr val="3A6D9C">
              <a:alpha val="40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1028526" y="16231195"/>
            <a:ext cx="228575" cy="228575"/>
          </a:xfrm>
          <a:prstGeom prst="ellipse">
            <a:avLst/>
          </a:prstGeom>
          <a:solidFill>
            <a:srgbClr val="0F2440"/>
          </a:solidFill>
          <a:ln w="7937">
            <a:solidFill>
              <a:srgbClr val="C09D4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104677" y="16307345"/>
            <a:ext cx="76150" cy="76150"/>
          </a:xfrm>
          <a:prstGeom prst="ellipse">
            <a:avLst/>
          </a:prstGeom>
          <a:solidFill>
            <a:srgbClr val="C09D4B"/>
          </a:solidFill>
          <a:ln/>
        </p:spPr>
      </p:sp>
      <p:sp>
        <p:nvSpPr>
          <p:cNvPr id="50" name="Text 46"/>
          <p:cNvSpPr/>
          <p:nvPr/>
        </p:nvSpPr>
        <p:spPr>
          <a:xfrm>
            <a:off x="1676301" y="16155044"/>
            <a:ext cx="425822" cy="4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00" i="1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300" dirty="0"/>
          </a:p>
        </p:txBody>
      </p:sp>
      <p:sp>
        <p:nvSpPr>
          <p:cNvPr id="51" name="Text 47"/>
          <p:cNvSpPr/>
          <p:nvPr/>
        </p:nvSpPr>
        <p:spPr>
          <a:xfrm>
            <a:off x="2159248" y="16297052"/>
            <a:ext cx="2654906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 · WOMEN'S EMPOWERMENT</a:t>
            </a:r>
            <a:endParaRPr lang="en-US" sz="825" dirty="0"/>
          </a:p>
        </p:txBody>
      </p:sp>
      <p:sp>
        <p:nvSpPr>
          <p:cNvPr id="52" name="Text 48"/>
          <p:cNvSpPr/>
          <p:nvPr/>
        </p:nvSpPr>
        <p:spPr>
          <a:xfrm>
            <a:off x="1676301" y="16764620"/>
            <a:ext cx="4748633" cy="1126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</a:t>
            </a:r>
            <a:pPr algn="l" indent="0" marL="0">
              <a:lnSpc>
                <a:spcPct val="102000"/>
              </a:lnSpc>
              <a:buNone/>
            </a:pPr>
            <a:r>
              <a:rPr lang="en-US" sz="4200" i="1" spc="-84" kern="0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 </a:t>
            </a:r>
            <a:pPr algn="l" indent="0" marL="0">
              <a:lnSpc>
                <a:spcPct val="102000"/>
              </a:lnSpc>
              <a:buNone/>
            </a:pPr>
            <a:r>
              <a:rPr lang="en-US" sz="4200" spc="-84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funding it.</a:t>
            </a:r>
            <a:endParaRPr lang="en-US" sz="4200" dirty="0"/>
          </a:p>
        </p:txBody>
      </p:sp>
      <p:sp>
        <p:nvSpPr>
          <p:cNvPr id="53" name="Text 49"/>
          <p:cNvSpPr/>
          <p:nvPr/>
        </p:nvSpPr>
        <p:spPr>
          <a:xfrm>
            <a:off x="1676301" y="18119452"/>
            <a:ext cx="4748633" cy="1333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75" dirty="0">
                <a:solidFill>
                  <a:srgbClr val="E8E0D0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in the early stages of a new engagement — partnering with another independent philanthropist to establish a definition and framework for women's empowerment, identify areas of need, and pinpoint where philanthropic capital can have maximum leverage.</a:t>
            </a:r>
            <a:endParaRPr lang="en-US" sz="1275" dirty="0"/>
          </a:p>
        </p:txBody>
      </p:sp>
      <p:sp>
        <p:nvSpPr>
          <p:cNvPr id="54" name="Shape 50"/>
          <p:cNvSpPr/>
          <p:nvPr/>
        </p:nvSpPr>
        <p:spPr>
          <a:xfrm>
            <a:off x="6896199" y="16155044"/>
            <a:ext cx="4381500" cy="3048000"/>
          </a:xfrm>
          <a:prstGeom prst="rect">
            <a:avLst/>
          </a:prstGeom>
          <a:solidFill>
            <a:srgbClr val="1E3A5A"/>
          </a:solidFill>
          <a:ln w="7937">
            <a:solidFill>
              <a:srgbClr val="3A6D9C">
                <a:alpha val="33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7285136" y="16582058"/>
            <a:ext cx="67771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825" dirty="0"/>
          </a:p>
        </p:txBody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5461" y="16582058"/>
            <a:ext cx="533301" cy="533301"/>
          </a:xfrm>
          <a:prstGeom prst="rect">
            <a:avLst/>
          </a:prstGeom>
        </p:spPr>
      </p:pic>
      <p:sp>
        <p:nvSpPr>
          <p:cNvPr id="57" name="Text 52"/>
          <p:cNvSpPr/>
          <p:nvPr/>
        </p:nvSpPr>
        <p:spPr>
          <a:xfrm>
            <a:off x="7285136" y="17617033"/>
            <a:ext cx="3711734" cy="8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0" i="1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progress</a:t>
            </a:r>
            <a:endParaRPr lang="en-US" sz="6600" dirty="0"/>
          </a:p>
        </p:txBody>
      </p:sp>
      <p:sp>
        <p:nvSpPr>
          <p:cNvPr id="58" name="Text 53"/>
          <p:cNvSpPr/>
          <p:nvPr/>
        </p:nvSpPr>
        <p:spPr>
          <a:xfrm>
            <a:off x="7285136" y="18607484"/>
            <a:ext cx="3711734" cy="2447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E8E0D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scoping, and target identification underway.</a:t>
            </a:r>
            <a:endParaRPr lang="en-US" sz="1050" dirty="0"/>
          </a:p>
        </p:txBody>
      </p:sp>
      <p:sp>
        <p:nvSpPr>
          <p:cNvPr id="59" name="Shape 54"/>
          <p:cNvSpPr/>
          <p:nvPr/>
        </p:nvSpPr>
        <p:spPr>
          <a:xfrm>
            <a:off x="914301" y="20443527"/>
            <a:ext cx="10363398" cy="9525"/>
          </a:xfrm>
          <a:prstGeom prst="rect">
            <a:avLst/>
          </a:prstGeom>
          <a:solidFill>
            <a:srgbClr val="3A6D9C">
              <a:alpha val="33000"/>
            </a:srgbClr>
          </a:solidFill>
          <a:ln/>
        </p:spPr>
      </p:sp>
      <p:sp>
        <p:nvSpPr>
          <p:cNvPr id="60" name="Text 55"/>
          <p:cNvSpPr/>
          <p:nvPr/>
        </p:nvSpPr>
        <p:spPr>
          <a:xfrm>
            <a:off x="914301" y="20799847"/>
            <a:ext cx="309728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82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COST-EFFECTIVE PHILANTHROPY · INDIA</a:t>
            </a:r>
            <a:endParaRPr lang="en-US" sz="825" dirty="0"/>
          </a:p>
        </p:txBody>
      </p:sp>
      <p:sp>
        <p:nvSpPr>
          <p:cNvPr id="61" name="Text 56"/>
          <p:cNvSpPr/>
          <p:nvPr/>
        </p:nvSpPr>
        <p:spPr>
          <a:xfrm>
            <a:off x="10589740" y="20756190"/>
            <a:ext cx="76415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onward →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4410663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25157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4" name="Shape 2"/>
          <p:cNvSpPr/>
          <p:nvPr/>
        </p:nvSpPr>
        <p:spPr>
          <a:xfrm>
            <a:off x="7239000" y="1234157"/>
            <a:ext cx="5715000" cy="5715000"/>
          </a:xfrm>
          <a:prstGeom prst="ellipse">
            <a:avLst/>
          </a:prstGeom>
          <a:ln w="7937">
            <a:solidFill>
              <a:srgbClr val="3A6D9C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2000" y="2377157"/>
            <a:ext cx="3429000" cy="3429000"/>
          </a:xfrm>
          <a:prstGeom prst="ellipse">
            <a:avLst/>
          </a:prstGeom>
          <a:ln w="7937">
            <a:solidFill>
              <a:srgbClr val="C09D4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8150" y="762000"/>
            <a:ext cx="200414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 IMPACT / REPORT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9677425" y="762000"/>
            <a:ext cx="1752625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 03 — JOURNEY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838150" y="1354087"/>
            <a:ext cx="5023155" cy="3194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700" spc="-217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journey </a:t>
            </a:r>
            <a:pPr algn="l" indent="0" marL="0">
              <a:lnSpc>
                <a:spcPct val="95000"/>
              </a:lnSpc>
              <a:buNone/>
            </a:pPr>
            <a:r>
              <a:rPr lang="en-US" sz="8700" i="1" spc="-217" kern="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far —</a:t>
            </a:r>
            <a:endParaRPr lang="en-US" sz="8700" dirty="0"/>
          </a:p>
        </p:txBody>
      </p:sp>
      <p:sp>
        <p:nvSpPr>
          <p:cNvPr id="9" name="Text 7"/>
          <p:cNvSpPr/>
          <p:nvPr/>
        </p:nvSpPr>
        <p:spPr>
          <a:xfrm>
            <a:off x="6477000" y="2663030"/>
            <a:ext cx="4512945" cy="835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350" dirty="0">
                <a:solidFill>
                  <a:srgbClr val="E8E0D0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engagements. Three cause areas. A discipline of finding cost-effective philanthropy where the evidence is thinnest and the leverage is highest.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7000" y="3802805"/>
            <a:ext cx="998314" cy="5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77000" y="4367980"/>
            <a:ext cx="99831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E8E0D0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CAUSE AREAS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7703840" y="3802805"/>
            <a:ext cx="9525" cy="708050"/>
          </a:xfrm>
          <a:prstGeom prst="rect">
            <a:avLst/>
          </a:prstGeom>
          <a:solidFill>
            <a:srgbClr val="3A6D9C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017991" y="3802805"/>
            <a:ext cx="1920304" cy="5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017991" y="4367980"/>
            <a:ext cx="192030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E8E0D0">
                    <a:alpha val="6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PHILANTHROPIC PARTNERS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0" y="5425157"/>
            <a:ext cx="12192000" cy="6204272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5425157"/>
            <a:ext cx="12192000" cy="9525"/>
          </a:xfrm>
          <a:prstGeom prst="rect">
            <a:avLst/>
          </a:prstGeom>
          <a:solidFill>
            <a:srgbClr val="0F2440">
              <a:alpha val="19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51268" y="5052094"/>
            <a:ext cx="2507431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0" i="1" dirty="0">
                <a:solidFill>
                  <a:srgbClr val="0F2440">
                    <a:alpha val="4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7000" dirty="0"/>
          </a:p>
        </p:txBody>
      </p:sp>
      <p:sp>
        <p:nvSpPr>
          <p:cNvPr id="18" name="Text 16"/>
          <p:cNvSpPr/>
          <p:nvPr/>
        </p:nvSpPr>
        <p:spPr>
          <a:xfrm>
            <a:off x="838150" y="6118820"/>
            <a:ext cx="1981200" cy="7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spc="-198" kern="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600" dirty="0"/>
          </a:p>
        </p:txBody>
      </p:sp>
      <p:sp>
        <p:nvSpPr>
          <p:cNvPr id="19" name="Text 17"/>
          <p:cNvSpPr/>
          <p:nvPr/>
        </p:nvSpPr>
        <p:spPr>
          <a:xfrm>
            <a:off x="838150" y="7025432"/>
            <a:ext cx="1981200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C09D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BEGAN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838150" y="7236519"/>
            <a:ext cx="304726" cy="9525"/>
          </a:xfrm>
          <a:prstGeom prst="rect">
            <a:avLst/>
          </a:prstGeom>
          <a:solidFill>
            <a:srgbClr val="C09D4B"/>
          </a:solidFill>
          <a:ln/>
        </p:spPr>
      </p:sp>
      <p:sp>
        <p:nvSpPr>
          <p:cNvPr id="21" name="Text 19"/>
          <p:cNvSpPr/>
          <p:nvPr/>
        </p:nvSpPr>
        <p:spPr>
          <a:xfrm>
            <a:off x="838150" y="7418956"/>
            <a:ext cx="190505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0F2440">
                    <a:alpha val="6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ECCE PILOT · MAHARASHTRA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276451" y="6118820"/>
            <a:ext cx="3061261" cy="2058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900" spc="-78" kern="0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richest state. The </a:t>
            </a:r>
            <a:pPr algn="l" indent="0" marL="0">
              <a:lnSpc>
                <a:spcPct val="102000"/>
              </a:lnSpc>
              <a:buNone/>
            </a:pPr>
            <a:r>
              <a:rPr lang="en-US" sz="3900" i="1" spc="-78" kern="0" dirty="0">
                <a:solidFill>
                  <a:srgbClr val="C497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thinnest </a:t>
            </a:r>
            <a:pPr algn="l" indent="0" marL="0">
              <a:lnSpc>
                <a:spcPct val="102000"/>
              </a:lnSpc>
              <a:buNone/>
            </a:pPr>
            <a:r>
              <a:rPr lang="en-US" sz="3900" spc="-78" kern="0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evidence.</a:t>
            </a:r>
            <a:endParaRPr lang="en-US" sz="3900" dirty="0"/>
          </a:p>
        </p:txBody>
      </p:sp>
      <p:sp>
        <p:nvSpPr>
          <p:cNvPr id="23" name="Text 21"/>
          <p:cNvSpPr/>
          <p:nvPr/>
        </p:nvSpPr>
        <p:spPr>
          <a:xfrm>
            <a:off x="3276451" y="8367985"/>
            <a:ext cx="3061261" cy="1295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38" dirty="0">
                <a:solidFill>
                  <a:srgbClr val="0F2440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pilot in Early Childhood Care &amp; Education exposed Maharashtra's paradox: India's wealthiest state, yet failing on key child-development indicators — and starved of philanthropic capital.</a:t>
            </a:r>
            <a:endParaRPr lang="en-US" sz="1238" dirty="0"/>
          </a:p>
        </p:txBody>
      </p:sp>
      <p:sp>
        <p:nvSpPr>
          <p:cNvPr id="24" name="Shape 22"/>
          <p:cNvSpPr/>
          <p:nvPr/>
        </p:nvSpPr>
        <p:spPr>
          <a:xfrm>
            <a:off x="3276451" y="9929687"/>
            <a:ext cx="1778992" cy="287238"/>
          </a:xfrm>
          <a:prstGeom prst="rect">
            <a:avLst/>
          </a:prstGeom>
          <a:ln w="7937">
            <a:solidFill>
              <a:srgbClr val="0F2440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7739" y="10013824"/>
            <a:ext cx="1572617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0F2440">
                    <a:alpha val="6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$6.1M TOTAL ECCE / YR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3276451" y="10293076"/>
            <a:ext cx="1707679" cy="287238"/>
          </a:xfrm>
          <a:prstGeom prst="rect">
            <a:avLst/>
          </a:prstGeom>
          <a:ln w="7937">
            <a:solidFill>
              <a:srgbClr val="0F2440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7739" y="10377214"/>
            <a:ext cx="1501304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0F2440">
                    <a:alpha val="6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RICHEST STATE, INDIA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3276451" y="10656466"/>
            <a:ext cx="1280170" cy="287238"/>
          </a:xfrm>
          <a:prstGeom prst="rect">
            <a:avLst/>
          </a:prstGeom>
          <a:ln w="7937">
            <a:solidFill>
              <a:srgbClr val="0F2440">
                <a:alpha val="2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7739" y="10740603"/>
            <a:ext cx="1073795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0F2440">
                    <a:alpha val="6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PILOT RESEARCH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6781850" y="6118820"/>
            <a:ext cx="4572000" cy="381124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31" name="Text 29"/>
          <p:cNvSpPr/>
          <p:nvPr/>
        </p:nvSpPr>
        <p:spPr>
          <a:xfrm>
            <a:off x="7124650" y="6565553"/>
            <a:ext cx="662955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10591973" y="6423545"/>
            <a:ext cx="419075" cy="419075"/>
          </a:xfrm>
          <a:prstGeom prst="ellipse">
            <a:avLst/>
          </a:prstGeom>
          <a:ln w="7937">
            <a:solidFill>
              <a:srgbClr val="C09D4B"/>
            </a:solidFill>
            <a:prstDash val="solid"/>
          </a:ln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973" y="6403702"/>
            <a:ext cx="419075" cy="419075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973" y="6403702"/>
            <a:ext cx="419075" cy="419075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124650" y="6918771"/>
            <a:ext cx="4002990" cy="1756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6500" spc="-825" kern="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18×</a:t>
            </a:r>
            <a:endParaRPr lang="en-US" sz="16500" dirty="0"/>
          </a:p>
        </p:txBody>
      </p:sp>
      <p:sp>
        <p:nvSpPr>
          <p:cNvPr id="36" name="Shape 32"/>
          <p:cNvSpPr/>
          <p:nvPr/>
        </p:nvSpPr>
        <p:spPr>
          <a:xfrm>
            <a:off x="7124650" y="8789291"/>
            <a:ext cx="3886398" cy="9525"/>
          </a:xfrm>
          <a:prstGeom prst="rect">
            <a:avLst/>
          </a:prstGeom>
          <a:solidFill>
            <a:srgbClr val="3A6D9C">
              <a:alpha val="50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7124650" y="8951019"/>
            <a:ext cx="400299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8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Cost-effectiveness gain</a:t>
            </a:r>
            <a:endParaRPr lang="en-US" sz="1350" dirty="0"/>
          </a:p>
        </p:txBody>
      </p:sp>
      <p:sp>
        <p:nvSpPr>
          <p:cNvPr id="38" name="Text 34"/>
          <p:cNvSpPr/>
          <p:nvPr/>
        </p:nvSpPr>
        <p:spPr>
          <a:xfrm>
            <a:off x="7124650" y="9214445"/>
            <a:ext cx="400299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E8E0D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extra part-time Anganwadi Worker focused on play-based early learning.</a:t>
            </a:r>
            <a:endParaRPr lang="en-US" sz="1013" dirty="0"/>
          </a:p>
        </p:txBody>
      </p:sp>
      <p:sp>
        <p:nvSpPr>
          <p:cNvPr id="39" name="Shape 35"/>
          <p:cNvSpPr/>
          <p:nvPr/>
        </p:nvSpPr>
        <p:spPr>
          <a:xfrm>
            <a:off x="0" y="11629430"/>
            <a:ext cx="12192000" cy="6201916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40" name="Shape 36"/>
          <p:cNvSpPr/>
          <p:nvPr/>
        </p:nvSpPr>
        <p:spPr>
          <a:xfrm>
            <a:off x="0" y="11629430"/>
            <a:ext cx="12192000" cy="9525"/>
          </a:xfrm>
          <a:prstGeom prst="rect">
            <a:avLst/>
          </a:prstGeom>
          <a:solidFill>
            <a:srgbClr val="3A6D9C"/>
          </a:solidFill>
          <a:ln/>
        </p:spPr>
      </p:sp>
      <p:sp>
        <p:nvSpPr>
          <p:cNvPr id="41" name="Text 37"/>
          <p:cNvSpPr/>
          <p:nvPr/>
        </p:nvSpPr>
        <p:spPr>
          <a:xfrm>
            <a:off x="9457531" y="11256366"/>
            <a:ext cx="3012718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0" i="1" dirty="0">
                <a:solidFill>
                  <a:srgbClr val="1E3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7000" dirty="0"/>
          </a:p>
        </p:txBody>
      </p:sp>
      <p:sp>
        <p:nvSpPr>
          <p:cNvPr id="42" name="Text 38"/>
          <p:cNvSpPr/>
          <p:nvPr/>
        </p:nvSpPr>
        <p:spPr>
          <a:xfrm>
            <a:off x="838150" y="12323092"/>
            <a:ext cx="1981200" cy="7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spc="-198" kern="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6600" dirty="0"/>
          </a:p>
        </p:txBody>
      </p:sp>
      <p:sp>
        <p:nvSpPr>
          <p:cNvPr id="43" name="Text 39"/>
          <p:cNvSpPr/>
          <p:nvPr/>
        </p:nvSpPr>
        <p:spPr>
          <a:xfrm>
            <a:off x="838150" y="13229704"/>
            <a:ext cx="1981200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C09D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BUILT</a:t>
            </a:r>
            <a:endParaRPr lang="en-US" sz="825" dirty="0"/>
          </a:p>
        </p:txBody>
      </p:sp>
      <p:sp>
        <p:nvSpPr>
          <p:cNvPr id="44" name="Shape 40"/>
          <p:cNvSpPr/>
          <p:nvPr/>
        </p:nvSpPr>
        <p:spPr>
          <a:xfrm>
            <a:off x="838150" y="13440791"/>
            <a:ext cx="304726" cy="9525"/>
          </a:xfrm>
          <a:prstGeom prst="rect">
            <a:avLst/>
          </a:prstGeom>
          <a:solidFill>
            <a:srgbClr val="C09D4B"/>
          </a:solidFill>
          <a:ln/>
        </p:spPr>
      </p:sp>
      <p:sp>
        <p:nvSpPr>
          <p:cNvPr id="45" name="Text 41"/>
          <p:cNvSpPr/>
          <p:nvPr/>
        </p:nvSpPr>
        <p:spPr>
          <a:xfrm>
            <a:off x="838150" y="13623229"/>
            <a:ext cx="1905050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E8E0D0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FARMER LIVELIHOODS · AUG 2025</a:t>
            </a:r>
            <a:endParaRPr lang="en-US" sz="750" dirty="0"/>
          </a:p>
        </p:txBody>
      </p:sp>
      <p:sp>
        <p:nvSpPr>
          <p:cNvPr id="46" name="Text 42"/>
          <p:cNvSpPr/>
          <p:nvPr/>
        </p:nvSpPr>
        <p:spPr>
          <a:xfrm>
            <a:off x="3276451" y="12323092"/>
            <a:ext cx="3061261" cy="155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900" spc="-78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stages. One </a:t>
            </a:r>
            <a:pPr algn="l" indent="0" marL="0">
              <a:lnSpc>
                <a:spcPct val="102000"/>
              </a:lnSpc>
              <a:buNone/>
            </a:pPr>
            <a:r>
              <a:rPr lang="en-US" sz="3900" i="1" spc="-78" kern="0" dirty="0">
                <a:solidFill>
                  <a:srgbClr val="C497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477× </a:t>
            </a:r>
            <a:pPr algn="l" indent="0" marL="0">
              <a:lnSpc>
                <a:spcPct val="102000"/>
              </a:lnSpc>
              <a:buNone/>
            </a:pPr>
            <a:r>
              <a:rPr lang="en-US" sz="3900" spc="-78" kern="0" dirty="0">
                <a:solidFill>
                  <a:srgbClr val="E8E0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grantee.</a:t>
            </a:r>
            <a:endParaRPr lang="en-US" sz="3900" dirty="0"/>
          </a:p>
        </p:txBody>
      </p:sp>
      <p:sp>
        <p:nvSpPr>
          <p:cNvPr id="47" name="Text 43"/>
          <p:cNvSpPr/>
          <p:nvPr/>
        </p:nvSpPr>
        <p:spPr>
          <a:xfrm>
            <a:off x="3276451" y="14067109"/>
            <a:ext cx="3061261" cy="1797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38" dirty="0">
                <a:solidFill>
                  <a:srgbClr val="E8E0D0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strategic engagement with an independent philanthropist to lift incomes of marginal and smallholder farmers — focused on horticulture, high-value crops and allied sectors. We designed a four-stage grant call to surface mid-sized NGOs in priority states.</a:t>
            </a:r>
            <a:endParaRPr lang="en-US" sz="1238" dirty="0"/>
          </a:p>
        </p:txBody>
      </p:sp>
      <p:sp>
        <p:nvSpPr>
          <p:cNvPr id="48" name="Shape 44"/>
          <p:cNvSpPr/>
          <p:nvPr/>
        </p:nvSpPr>
        <p:spPr>
          <a:xfrm>
            <a:off x="3276451" y="16131604"/>
            <a:ext cx="1565176" cy="287238"/>
          </a:xfrm>
          <a:prstGeom prst="rect">
            <a:avLst/>
          </a:prstGeom>
          <a:ln w="7937">
            <a:solidFill>
              <a:srgbClr val="3A6D9C">
                <a:alpha val="25000"/>
              </a:srgbClr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417739" y="16215741"/>
            <a:ext cx="1358801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E8E0D0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4-STAGE GRANT CALL</a:t>
            </a:r>
            <a:endParaRPr lang="en-US" sz="825" dirty="0"/>
          </a:p>
        </p:txBody>
      </p:sp>
      <p:sp>
        <p:nvSpPr>
          <p:cNvPr id="50" name="Shape 46"/>
          <p:cNvSpPr/>
          <p:nvPr/>
        </p:nvSpPr>
        <p:spPr>
          <a:xfrm>
            <a:off x="3276451" y="16494993"/>
            <a:ext cx="2491507" cy="287238"/>
          </a:xfrm>
          <a:prstGeom prst="rect">
            <a:avLst/>
          </a:prstGeom>
          <a:ln w="7937">
            <a:solidFill>
              <a:srgbClr val="3A6D9C">
                <a:alpha val="2500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3417739" y="16579131"/>
            <a:ext cx="2285132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E8E0D0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HORTICULTURE &amp; HIGH-VALUE CROPS</a:t>
            </a:r>
            <a:endParaRPr lang="en-US" sz="825" dirty="0"/>
          </a:p>
        </p:txBody>
      </p:sp>
      <p:sp>
        <p:nvSpPr>
          <p:cNvPr id="52" name="Shape 48"/>
          <p:cNvSpPr/>
          <p:nvPr/>
        </p:nvSpPr>
        <p:spPr>
          <a:xfrm>
            <a:off x="3276451" y="16858380"/>
            <a:ext cx="1280170" cy="287238"/>
          </a:xfrm>
          <a:prstGeom prst="rect">
            <a:avLst/>
          </a:prstGeom>
          <a:ln w="7937">
            <a:solidFill>
              <a:srgbClr val="3A6D9C">
                <a:alpha val="25000"/>
              </a:srgbClr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417739" y="16942518"/>
            <a:ext cx="1073795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E8E0D0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MID-SIZED NGOS</a:t>
            </a:r>
            <a:endParaRPr lang="en-US" sz="825" dirty="0"/>
          </a:p>
        </p:txBody>
      </p:sp>
      <p:sp>
        <p:nvSpPr>
          <p:cNvPr id="54" name="Shape 50"/>
          <p:cNvSpPr/>
          <p:nvPr/>
        </p:nvSpPr>
        <p:spPr>
          <a:xfrm>
            <a:off x="4632771" y="16858380"/>
            <a:ext cx="852661" cy="287238"/>
          </a:xfrm>
          <a:prstGeom prst="rect">
            <a:avLst/>
          </a:prstGeom>
          <a:ln w="7937">
            <a:solidFill>
              <a:srgbClr val="3A6D9C">
                <a:alpha val="2500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774059" y="16942518"/>
            <a:ext cx="646286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E8E0D0">
                    <a:alpha val="8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AUG 2025</a:t>
            </a:r>
            <a:endParaRPr lang="en-US" sz="825" dirty="0"/>
          </a:p>
        </p:txBody>
      </p:sp>
      <p:sp>
        <p:nvSpPr>
          <p:cNvPr id="56" name="Shape 52"/>
          <p:cNvSpPr/>
          <p:nvPr/>
        </p:nvSpPr>
        <p:spPr>
          <a:xfrm>
            <a:off x="6781850" y="12323092"/>
            <a:ext cx="4572000" cy="3624833"/>
          </a:xfrm>
          <a:prstGeom prst="rect">
            <a:avLst/>
          </a:prstGeom>
          <a:solidFill>
            <a:srgbClr val="203C55"/>
          </a:solidFill>
          <a:ln/>
        </p:spPr>
      </p:sp>
      <p:sp>
        <p:nvSpPr>
          <p:cNvPr id="57" name="Text 53"/>
          <p:cNvSpPr/>
          <p:nvPr/>
        </p:nvSpPr>
        <p:spPr>
          <a:xfrm>
            <a:off x="7124650" y="12769825"/>
            <a:ext cx="1249710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GRANTEE IMPACT</a:t>
            </a:r>
            <a:endParaRPr lang="en-US" sz="825" dirty="0"/>
          </a:p>
        </p:txBody>
      </p:sp>
      <p:sp>
        <p:nvSpPr>
          <p:cNvPr id="58" name="Shape 54"/>
          <p:cNvSpPr/>
          <p:nvPr/>
        </p:nvSpPr>
        <p:spPr>
          <a:xfrm>
            <a:off x="10591973" y="12627818"/>
            <a:ext cx="419075" cy="419075"/>
          </a:xfrm>
          <a:prstGeom prst="ellipse">
            <a:avLst/>
          </a:prstGeom>
          <a:ln w="7937">
            <a:solidFill>
              <a:srgbClr val="C09D4B"/>
            </a:solidFill>
            <a:prstDash val="solid"/>
          </a:ln>
        </p:spPr>
      </p:sp>
      <p:pic>
        <p:nvPicPr>
          <p:cNvPr id="5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973" y="12607975"/>
            <a:ext cx="419075" cy="419075"/>
          </a:xfrm>
          <a:prstGeom prst="rect">
            <a:avLst/>
          </a:prstGeom>
        </p:spPr>
      </p:pic>
      <p:pic>
        <p:nvPicPr>
          <p:cNvPr id="6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91973" y="12607975"/>
            <a:ext cx="419075" cy="419075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7124650" y="13123043"/>
            <a:ext cx="4002990" cy="1756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0"/>
              </a:lnSpc>
              <a:buNone/>
            </a:pPr>
            <a:r>
              <a:rPr lang="en-US" sz="16500" spc="-825" kern="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477×</a:t>
            </a:r>
            <a:endParaRPr lang="en-US" sz="16500" dirty="0"/>
          </a:p>
        </p:txBody>
      </p:sp>
      <p:sp>
        <p:nvSpPr>
          <p:cNvPr id="62" name="Shape 56"/>
          <p:cNvSpPr/>
          <p:nvPr/>
        </p:nvSpPr>
        <p:spPr>
          <a:xfrm>
            <a:off x="7124650" y="14993564"/>
            <a:ext cx="3886398" cy="9525"/>
          </a:xfrm>
          <a:prstGeom prst="rect">
            <a:avLst/>
          </a:prstGeom>
          <a:solidFill>
            <a:srgbClr val="3A6D9C">
              <a:alpha val="50000"/>
            </a:srgbClr>
          </a:solidFill>
          <a:ln/>
        </p:spPr>
      </p:sp>
      <p:sp>
        <p:nvSpPr>
          <p:cNvPr id="63" name="Text 57"/>
          <p:cNvSpPr/>
          <p:nvPr/>
        </p:nvSpPr>
        <p:spPr>
          <a:xfrm>
            <a:off x="7124650" y="15155291"/>
            <a:ext cx="4002990" cy="244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8E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Grantee cost-effectiveness</a:t>
            </a:r>
            <a:endParaRPr lang="en-US" sz="1350" dirty="0"/>
          </a:p>
        </p:txBody>
      </p:sp>
      <p:sp>
        <p:nvSpPr>
          <p:cNvPr id="64" name="Text 58"/>
          <p:cNvSpPr/>
          <p:nvPr/>
        </p:nvSpPr>
        <p:spPr>
          <a:xfrm>
            <a:off x="7124650" y="15418717"/>
            <a:ext cx="4002990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13" dirty="0">
                <a:solidFill>
                  <a:srgbClr val="E8E0D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Mid-sized NGO surfaced through our four-stage diligence process.</a:t>
            </a:r>
            <a:endParaRPr lang="en-US" sz="1013" dirty="0"/>
          </a:p>
        </p:txBody>
      </p:sp>
      <p:sp>
        <p:nvSpPr>
          <p:cNvPr id="65" name="Shape 59"/>
          <p:cNvSpPr/>
          <p:nvPr/>
        </p:nvSpPr>
        <p:spPr>
          <a:xfrm>
            <a:off x="0" y="17831344"/>
            <a:ext cx="12192000" cy="5587132"/>
          </a:xfrm>
          <a:prstGeom prst="rect">
            <a:avLst/>
          </a:prstGeom>
          <a:solidFill>
            <a:srgbClr val="E8E0D0"/>
          </a:solidFill>
          <a:ln/>
        </p:spPr>
      </p:sp>
      <p:sp>
        <p:nvSpPr>
          <p:cNvPr id="66" name="Shape 60"/>
          <p:cNvSpPr/>
          <p:nvPr/>
        </p:nvSpPr>
        <p:spPr>
          <a:xfrm>
            <a:off x="0" y="17831344"/>
            <a:ext cx="12192000" cy="9525"/>
          </a:xfrm>
          <a:prstGeom prst="rect">
            <a:avLst/>
          </a:prstGeom>
          <a:solidFill>
            <a:srgbClr val="0F2440">
              <a:alpha val="19000"/>
            </a:srgbClr>
          </a:solidFill>
          <a:ln/>
        </p:spPr>
      </p:sp>
      <p:sp>
        <p:nvSpPr>
          <p:cNvPr id="67" name="Text 61"/>
          <p:cNvSpPr/>
          <p:nvPr/>
        </p:nvSpPr>
        <p:spPr>
          <a:xfrm>
            <a:off x="9522643" y="17458283"/>
            <a:ext cx="2945652" cy="3467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0" i="1" dirty="0">
                <a:solidFill>
                  <a:srgbClr val="0F2440">
                    <a:alpha val="4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7000" dirty="0"/>
          </a:p>
        </p:txBody>
      </p:sp>
      <p:sp>
        <p:nvSpPr>
          <p:cNvPr id="68" name="Text 62"/>
          <p:cNvSpPr/>
          <p:nvPr/>
        </p:nvSpPr>
        <p:spPr>
          <a:xfrm>
            <a:off x="838150" y="18525009"/>
            <a:ext cx="1981200" cy="7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6600" spc="-198" kern="0" dirty="0">
                <a:solidFill>
                  <a:srgbClr val="C09D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6600" dirty="0"/>
          </a:p>
        </p:txBody>
      </p:sp>
      <p:sp>
        <p:nvSpPr>
          <p:cNvPr id="69" name="Text 63"/>
          <p:cNvSpPr/>
          <p:nvPr/>
        </p:nvSpPr>
        <p:spPr>
          <a:xfrm>
            <a:off x="838150" y="19431619"/>
            <a:ext cx="1981200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C09D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BUILDING</a:t>
            </a:r>
            <a:endParaRPr lang="en-US" sz="825" dirty="0"/>
          </a:p>
        </p:txBody>
      </p:sp>
      <p:sp>
        <p:nvSpPr>
          <p:cNvPr id="70" name="Shape 64"/>
          <p:cNvSpPr/>
          <p:nvPr/>
        </p:nvSpPr>
        <p:spPr>
          <a:xfrm>
            <a:off x="838150" y="19642708"/>
            <a:ext cx="304726" cy="9525"/>
          </a:xfrm>
          <a:prstGeom prst="rect">
            <a:avLst/>
          </a:prstGeom>
          <a:solidFill>
            <a:srgbClr val="C09D4B"/>
          </a:solidFill>
          <a:ln/>
        </p:spPr>
      </p:sp>
      <p:sp>
        <p:nvSpPr>
          <p:cNvPr id="71" name="Text 65"/>
          <p:cNvSpPr/>
          <p:nvPr/>
        </p:nvSpPr>
        <p:spPr>
          <a:xfrm>
            <a:off x="838150" y="19825146"/>
            <a:ext cx="1676474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0F2440">
                    <a:alpha val="6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WOMEN'S EMPOWERMENT · 2026</a:t>
            </a:r>
            <a:endParaRPr lang="en-US" sz="750" dirty="0"/>
          </a:p>
        </p:txBody>
      </p:sp>
      <p:sp>
        <p:nvSpPr>
          <p:cNvPr id="72" name="Text 66"/>
          <p:cNvSpPr/>
          <p:nvPr/>
        </p:nvSpPr>
        <p:spPr>
          <a:xfrm>
            <a:off x="3276451" y="18525009"/>
            <a:ext cx="3061261" cy="1553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900" spc="-78" kern="0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the </a:t>
            </a:r>
            <a:pPr algn="l" indent="0" marL="0">
              <a:lnSpc>
                <a:spcPct val="102000"/>
              </a:lnSpc>
              <a:buNone/>
            </a:pPr>
            <a:r>
              <a:rPr lang="en-US" sz="3900" i="1" spc="-78" kern="0" dirty="0">
                <a:solidFill>
                  <a:srgbClr val="C497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 </a:t>
            </a:r>
            <a:pPr algn="l" indent="0" marL="0">
              <a:lnSpc>
                <a:spcPct val="102000"/>
              </a:lnSpc>
              <a:buNone/>
            </a:pPr>
            <a:r>
              <a:rPr lang="en-US" sz="3900" spc="-78" kern="0" dirty="0">
                <a:solidFill>
                  <a:srgbClr val="0F2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funding it.</a:t>
            </a:r>
            <a:endParaRPr lang="en-US" sz="3900" dirty="0"/>
          </a:p>
        </p:txBody>
      </p:sp>
      <p:sp>
        <p:nvSpPr>
          <p:cNvPr id="73" name="Text 67"/>
          <p:cNvSpPr/>
          <p:nvPr/>
        </p:nvSpPr>
        <p:spPr>
          <a:xfrm>
            <a:off x="3276451" y="20269026"/>
            <a:ext cx="3061261" cy="15464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38" dirty="0">
                <a:solidFill>
                  <a:srgbClr val="0F2440">
                    <a:alpha val="67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early-stage engagement with another independent philanthropist to establish a definition and framework for women's empowerment, identify areas of need, and pinpoint where philanthropic capital can have maximum leverage.</a:t>
            </a:r>
            <a:endParaRPr lang="en-US" sz="1238" dirty="0"/>
          </a:p>
        </p:txBody>
      </p:sp>
      <p:sp>
        <p:nvSpPr>
          <p:cNvPr id="74" name="Shape 68"/>
          <p:cNvSpPr/>
          <p:nvPr/>
        </p:nvSpPr>
        <p:spPr>
          <a:xfrm>
            <a:off x="3276451" y="22082124"/>
            <a:ext cx="1422673" cy="287238"/>
          </a:xfrm>
          <a:prstGeom prst="rect">
            <a:avLst/>
          </a:prstGeom>
          <a:ln w="7937">
            <a:solidFill>
              <a:srgbClr val="0F2440">
                <a:alpha val="25000"/>
              </a:srgbClr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3417739" y="22166262"/>
            <a:ext cx="1216298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0F2440">
                    <a:alpha val="6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FRAMEWORK DESIGN</a:t>
            </a:r>
            <a:endParaRPr lang="en-US" sz="825" dirty="0"/>
          </a:p>
        </p:txBody>
      </p:sp>
      <p:sp>
        <p:nvSpPr>
          <p:cNvPr id="76" name="Shape 70"/>
          <p:cNvSpPr/>
          <p:nvPr/>
        </p:nvSpPr>
        <p:spPr>
          <a:xfrm>
            <a:off x="4775274" y="22082124"/>
            <a:ext cx="1208980" cy="287238"/>
          </a:xfrm>
          <a:prstGeom prst="rect">
            <a:avLst/>
          </a:prstGeom>
          <a:ln w="7937">
            <a:solidFill>
              <a:srgbClr val="0F2440">
                <a:alpha val="25000"/>
              </a:srgbClr>
            </a:solidFill>
            <a:prstDash val="solid"/>
          </a:ln>
        </p:spPr>
      </p:sp>
      <p:sp>
        <p:nvSpPr>
          <p:cNvPr id="77" name="Text 71"/>
          <p:cNvSpPr/>
          <p:nvPr/>
        </p:nvSpPr>
        <p:spPr>
          <a:xfrm>
            <a:off x="4916562" y="22166262"/>
            <a:ext cx="1002605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0F2440">
                    <a:alpha val="6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SCOPING</a:t>
            </a:r>
            <a:endParaRPr lang="en-US" sz="825" dirty="0"/>
          </a:p>
        </p:txBody>
      </p:sp>
      <p:sp>
        <p:nvSpPr>
          <p:cNvPr id="78" name="Shape 72"/>
          <p:cNvSpPr/>
          <p:nvPr/>
        </p:nvSpPr>
        <p:spPr>
          <a:xfrm>
            <a:off x="3276451" y="22445514"/>
            <a:ext cx="2135312" cy="287238"/>
          </a:xfrm>
          <a:prstGeom prst="rect">
            <a:avLst/>
          </a:prstGeom>
          <a:ln w="7937">
            <a:solidFill>
              <a:srgbClr val="0F2440">
                <a:alpha val="25000"/>
              </a:srgbClr>
            </a:solidFill>
            <a:prstDash val="solid"/>
          </a:ln>
        </p:spPr>
      </p:sp>
      <p:sp>
        <p:nvSpPr>
          <p:cNvPr id="79" name="Text 73"/>
          <p:cNvSpPr/>
          <p:nvPr/>
        </p:nvSpPr>
        <p:spPr>
          <a:xfrm>
            <a:off x="3417739" y="22529651"/>
            <a:ext cx="1928937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66" kern="0" dirty="0">
                <a:solidFill>
                  <a:srgbClr val="0F2440">
                    <a:alpha val="67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INDEPENDENT PHILANTHROPIST</a:t>
            </a:r>
            <a:endParaRPr lang="en-US" sz="825" dirty="0"/>
          </a:p>
        </p:txBody>
      </p:sp>
      <p:sp>
        <p:nvSpPr>
          <p:cNvPr id="80" name="Shape 74"/>
          <p:cNvSpPr/>
          <p:nvPr/>
        </p:nvSpPr>
        <p:spPr>
          <a:xfrm>
            <a:off x="6781850" y="18525009"/>
            <a:ext cx="4572000" cy="2667000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81" name="Text 75"/>
          <p:cNvSpPr/>
          <p:nvPr/>
        </p:nvSpPr>
        <p:spPr>
          <a:xfrm>
            <a:off x="7124650" y="18971740"/>
            <a:ext cx="57923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25" dirty="0"/>
          </a:p>
        </p:txBody>
      </p:sp>
      <p:sp>
        <p:nvSpPr>
          <p:cNvPr id="82" name="Shape 76"/>
          <p:cNvSpPr/>
          <p:nvPr/>
        </p:nvSpPr>
        <p:spPr>
          <a:xfrm>
            <a:off x="10591973" y="18829734"/>
            <a:ext cx="419075" cy="419075"/>
          </a:xfrm>
          <a:prstGeom prst="ellipse">
            <a:avLst/>
          </a:prstGeom>
          <a:ln w="7937">
            <a:solidFill>
              <a:srgbClr val="C09D4B"/>
            </a:solidFill>
            <a:prstDash val="solid"/>
          </a:ln>
        </p:spPr>
      </p:sp>
      <p:pic>
        <p:nvPicPr>
          <p:cNvPr id="8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973" y="18809889"/>
            <a:ext cx="419075" cy="419075"/>
          </a:xfrm>
          <a:prstGeom prst="rect">
            <a:avLst/>
          </a:prstGeom>
        </p:spPr>
      </p:pic>
      <p:pic>
        <p:nvPicPr>
          <p:cNvPr id="8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1973" y="18809889"/>
            <a:ext cx="419075" cy="419075"/>
          </a:xfrm>
          <a:prstGeom prst="rect">
            <a:avLst/>
          </a:prstGeom>
        </p:spPr>
      </p:pic>
      <p:sp>
        <p:nvSpPr>
          <p:cNvPr id="85" name="Text 77"/>
          <p:cNvSpPr/>
          <p:nvPr/>
        </p:nvSpPr>
        <p:spPr>
          <a:xfrm>
            <a:off x="7124650" y="19649405"/>
            <a:ext cx="4002990" cy="723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400" i="1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Underway</a:t>
            </a:r>
            <a:endParaRPr lang="en-US" sz="5400" dirty="0"/>
          </a:p>
        </p:txBody>
      </p:sp>
      <p:sp>
        <p:nvSpPr>
          <p:cNvPr id="86" name="Shape 78"/>
          <p:cNvSpPr/>
          <p:nvPr/>
        </p:nvSpPr>
        <p:spPr>
          <a:xfrm>
            <a:off x="7124650" y="20487554"/>
            <a:ext cx="3886398" cy="9525"/>
          </a:xfrm>
          <a:prstGeom prst="rect">
            <a:avLst/>
          </a:prstGeom>
          <a:solidFill>
            <a:srgbClr val="3A6D9C">
              <a:alpha val="50000"/>
            </a:srgbClr>
          </a:solidFill>
          <a:ln/>
        </p:spPr>
      </p:sp>
      <p:sp>
        <p:nvSpPr>
          <p:cNvPr id="87" name="Text 79"/>
          <p:cNvSpPr/>
          <p:nvPr/>
        </p:nvSpPr>
        <p:spPr>
          <a:xfrm>
            <a:off x="7124650" y="20649281"/>
            <a:ext cx="4002990" cy="2380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E8E0D0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Framework, scoping, and target identification underway.</a:t>
            </a:r>
            <a:endParaRPr lang="en-US" sz="1050" dirty="0"/>
          </a:p>
        </p:txBody>
      </p:sp>
      <p:sp>
        <p:nvSpPr>
          <p:cNvPr id="88" name="Shape 80"/>
          <p:cNvSpPr/>
          <p:nvPr/>
        </p:nvSpPr>
        <p:spPr>
          <a:xfrm>
            <a:off x="0" y="23418478"/>
            <a:ext cx="12192000" cy="992187"/>
          </a:xfrm>
          <a:prstGeom prst="rect">
            <a:avLst/>
          </a:prstGeom>
          <a:solidFill>
            <a:srgbClr val="0F2440"/>
          </a:solidFill>
          <a:ln/>
        </p:spPr>
      </p:sp>
      <p:sp>
        <p:nvSpPr>
          <p:cNvPr id="89" name="Shape 81"/>
          <p:cNvSpPr/>
          <p:nvPr/>
        </p:nvSpPr>
        <p:spPr>
          <a:xfrm>
            <a:off x="0" y="23418478"/>
            <a:ext cx="12192000" cy="9525"/>
          </a:xfrm>
          <a:prstGeom prst="rect">
            <a:avLst/>
          </a:prstGeom>
          <a:solidFill>
            <a:srgbClr val="3A6D9C">
              <a:alpha val="25000"/>
            </a:srgbClr>
          </a:solidFill>
          <a:ln/>
        </p:spPr>
      </p:sp>
      <p:sp>
        <p:nvSpPr>
          <p:cNvPr id="90" name="Text 82"/>
          <p:cNvSpPr/>
          <p:nvPr/>
        </p:nvSpPr>
        <p:spPr>
          <a:xfrm>
            <a:off x="838150" y="23851070"/>
            <a:ext cx="3021788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65" kern="0" dirty="0">
                <a:solidFill>
                  <a:srgbClr val="D2B9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COST-EFFECTIVE PHILANTHROPY · INDIA</a:t>
            </a:r>
            <a:endParaRPr lang="en-US" sz="825" dirty="0"/>
          </a:p>
        </p:txBody>
      </p:sp>
      <p:sp>
        <p:nvSpPr>
          <p:cNvPr id="91" name="Text 83"/>
          <p:cNvSpPr/>
          <p:nvPr/>
        </p:nvSpPr>
        <p:spPr>
          <a:xfrm>
            <a:off x="10665892" y="23807412"/>
            <a:ext cx="764158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D2B9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onward →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2026-04-29T08:46:30Z</dcterms:created>
  <dcterms:modified xsi:type="dcterms:W3CDTF">2026-04-29T08:46:30Z</dcterms:modified>
</cp:coreProperties>
</file>